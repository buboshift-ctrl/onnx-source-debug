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2A4A"/>
                </a:solidFill>
                <a:latin typeface="Pretendard"/>
              </a:rPr>
              <a:t>우리가 수정 가능한 지점은 두 곳뿐 — admit / tail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847" y="1645920"/>
            <a:ext cx="0" cy="292608"/>
          </a:xfrm>
          <a:prstGeom prst="line">
            <a:avLst/>
          </a:prstGeom>
          <a:ln w="2222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5847" y="2852928"/>
            <a:ext cx="0" cy="292608"/>
          </a:xfrm>
          <a:prstGeom prst="line">
            <a:avLst/>
          </a:prstGeom>
          <a:ln w="2222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4059936"/>
            <a:ext cx="0" cy="292608"/>
          </a:xfrm>
          <a:prstGeom prst="line">
            <a:avLst/>
          </a:prstGeom>
          <a:ln w="2222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5266944"/>
            <a:ext cx="0" cy="292608"/>
          </a:xfrm>
          <a:prstGeom prst="line">
            <a:avLst/>
          </a:prstGeom>
          <a:ln w="22225">
            <a:solidFill>
              <a:srgbClr val="5A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78527" y="1097280"/>
            <a:ext cx="2834640" cy="54864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5A5F66"/>
                </a:solidFill>
                <a:latin typeface="Pretendard"/>
              </a:rPr>
              <a:t>ONNX 모델</a:t>
            </a:r>
          </a:p>
          <a:p>
            <a:pPr algn="ctr"/>
            <a:r>
              <a:rPr sz="1050" b="0">
                <a:solidFill>
                  <a:srgbClr val="5A5F66"/>
                </a:solidFill>
                <a:latin typeface="Pretendard"/>
              </a:rPr>
              <a:t>입력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8527" y="1938528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2E6F95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admit 단계</a:t>
            </a:r>
          </a:p>
          <a:p>
            <a:pPr algn="ctr"/>
            <a:r>
              <a:rPr sz="1150" b="0">
                <a:solidFill>
                  <a:srgbClr val="E9F0F5"/>
                </a:solidFill>
                <a:latin typeface="Pretendard"/>
              </a:rPr>
              <a:t>ONNX 로드 직후</a:t>
            </a:r>
          </a:p>
          <a:p>
            <a:pPr algn="ctr"/>
            <a:r>
              <a:rPr sz="1000" b="1">
                <a:solidFill>
                  <a:srgbClr val="E9F0F5"/>
                </a:solidFill>
                <a:latin typeface="Pretendard"/>
              </a:rPr>
              <a:t>[우리가 만짐]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78527" y="3145536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8A6D3B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mlir-arx (PNU)</a:t>
            </a:r>
          </a:p>
          <a:p>
            <a:pPr algn="ctr"/>
            <a:r>
              <a:rPr sz="1150" b="0">
                <a:solidFill>
                  <a:srgbClr val="E9F0F5"/>
                </a:solidFill>
                <a:latin typeface="Pretendard"/>
              </a:rPr>
              <a:t>onnx → harx → EmitC</a:t>
            </a:r>
          </a:p>
          <a:p>
            <a:pPr algn="ctr"/>
            <a:r>
              <a:rPr sz="1000" b="1">
                <a:solidFill>
                  <a:srgbClr val="E9F0F5"/>
                </a:solidFill>
                <a:latin typeface="Pretendard"/>
              </a:rPr>
              <a:t>[절대 안 건드림]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78527" y="4352544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2E6F95"/>
          </a:solidFill>
          <a:ln w="2222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tail 단계</a:t>
            </a:r>
          </a:p>
          <a:p>
            <a:pPr algn="ctr"/>
            <a:r>
              <a:rPr sz="1150" b="0">
                <a:solidFill>
                  <a:srgbClr val="E9F0F5"/>
                </a:solidFill>
                <a:latin typeface="Pretendard"/>
              </a:rPr>
              <a:t>EmitC → C 생성 이후</a:t>
            </a:r>
          </a:p>
          <a:p>
            <a:pPr algn="ctr"/>
            <a:r>
              <a:rPr sz="1000" b="1">
                <a:solidFill>
                  <a:srgbClr val="E9F0F5"/>
                </a:solidFill>
                <a:latin typeface="Pretendard"/>
              </a:rPr>
              <a:t>[우리 소유]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78527" y="5559552"/>
            <a:ext cx="2834640" cy="54864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C7CC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5A5F66"/>
                </a:solidFill>
                <a:latin typeface="Pretendard"/>
              </a:rPr>
              <a:t>host-mode 실행 아티팩트</a:t>
            </a:r>
          </a:p>
          <a:p>
            <a:pPr algn="ctr"/>
            <a:r>
              <a:rPr sz="1050" b="0">
                <a:solidFill>
                  <a:srgbClr val="5A5F66"/>
                </a:solidFill>
                <a:latin typeface="Pretendard"/>
              </a:rPr>
              <a:t>출력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A5F66"/>
                </a:solidFill>
                <a:latin typeface="Pretendard"/>
              </a:rPr>
              <a:t>이 도형/텍스트는 Keynote에서 열어도 그대로 편집 가능합니다 (File &gt; Open으로 자동 변환).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